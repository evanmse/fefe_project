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C0000"/>
                </a:solidFill>
                <a:latin typeface="Calibri Light"/>
              </a:defRPr>
            </a:pPr>
            <a:r>
              <a:t>SCUDERIA FERRARI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F5F5"/>
                </a:solidFill>
                <a:latin typeface="Calibri Light"/>
              </a:defRPr>
            </a:pPr>
            <a:r>
              <a:t>LiDAR Ride Height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8A"/>
                </a:solidFill>
                <a:latin typeface="Calibri"/>
              </a:defRPr>
            </a:pPr>
            <a:r>
              <a:t>Cockpit Ingénieur · Télémétrie Temps Réel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8A"/>
                </a:solidFill>
                <a:latin typeface="Calibri"/>
              </a:defRPr>
            </a:pPr>
            <a:r>
              <a:t>Projet Fefe — Démonstrateur Full-Stack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1. Vision &amp; Contexte — Pourquoi la garde au sol est critique en F1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2. Architecture Technique — Stack React / PHP / MySQL / IA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3. Fonctionnalités Clés — Dashboard, Chatbot IA, Vocal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4. Sécurité &amp; Authentification — Google OAuth 2.0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5. Design System — Thème Race Day, Dark/Light mode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6. Démonstration Live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7.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VISION &amp; CONTEXTE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La garde au sol (ride height) est critique en F1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Un décrochage de plancher = perte d'appui soudaine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Les ingénieurs ont besoin de données en temps réel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La complexité requiert une IA d'assistance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NOTRE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Dashboard temps réel avec LiDAR 100 Hz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Résolution 0,1 mm sur la garde au sol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Assistant IA Groq + Mistral intégré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Contrôle vocal mains-libres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Google OAuth sécurisé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8A"/>
                </a:solidFill>
                <a:latin typeface="Calibri Light"/>
              </a:defRPr>
            </a:pPr>
            <a:r>
              <a:t>« La garde au sol se joue au millimètre. Notre LiDAR la mesure à 100 Hz.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000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058400" cy="4572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F5F5"/>
                </a:solidFill>
                <a:latin typeface="Calibri"/>
              </a:defRPr>
            </a:pPr>
            <a:r>
              <a:t>React 19 · TanStack Router · Tailwind CSS 4 ·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0000"/>
                </a:solidFill>
                <a:latin typeface="Calibri"/>
              </a:defRPr>
            </a:pPr>
            <a:r>
              <a:t>BUNDLER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10058400" cy="4572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F5F5"/>
                </a:solidFill>
                <a:latin typeface="Calibri"/>
              </a:defRPr>
            </a:pPr>
            <a:r>
              <a:t>Vite 7 · Hot Module Replacement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0000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49040"/>
            <a:ext cx="10058400" cy="4572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F5F5"/>
                </a:solidFill>
                <a:latin typeface="Calibri"/>
              </a:defRPr>
            </a:pPr>
            <a:r>
              <a:t>PHP 8.5 (Groq/Mistral) · Node.js Serverless (Vercel)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0000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058400" cy="4572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F5F5"/>
                </a:solidFill>
                <a:latin typeface="Calibri"/>
              </a:defRPr>
            </a:pPr>
            <a:r>
              <a:t>MySQL · AlwaysData · Mesures · FAQ · LiDAR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0000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10058400" cy="45720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F5F5"/>
                </a:solidFill>
                <a:latin typeface="Calibri"/>
              </a:defRPr>
            </a:pPr>
            <a:r>
              <a:t>Groq (llama-3.3-70B) · Mistral (small-latest)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FLUX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  <a:latin typeface="Calibri"/>
              </a:defRPr>
            </a:pPr>
            <a:r>
              <a:t>1. Capteurs IoT → Mesures (température, humidité, luminosité)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  <a:latin typeface="Calibri"/>
              </a:defRPr>
            </a:pPr>
            <a:r>
              <a:t>2. LiDAR G2D → Distance (mm), réflectivité (%), luminosité (lux)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  <a:latin typeface="Calibri"/>
              </a:defRPr>
            </a:pPr>
            <a:r>
              <a:t>3. MySQL → Stockage temps réel (AlwaysData)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  <a:latin typeface="Calibri"/>
              </a:defRPr>
            </a:pPr>
            <a:r>
              <a:t>4. PHP API → Exposition REST des données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  <a:latin typeface="Calibri"/>
              </a:defRPr>
            </a:pPr>
            <a:r>
              <a:t>5. React Dashboard → Affichage live (200 ms refresh)</a:t>
            </a:r>
          </a:p>
          <a:p>
            <a:pPr>
              <a:spcAft>
                <a:spcPts val="800"/>
              </a:spcAft>
              <a:defRPr sz="1800">
                <a:solidFill>
                  <a:srgbClr val="F5F5F5"/>
                </a:solidFill>
                <a:latin typeface="Calibri"/>
              </a:defRPr>
            </a:pPr>
            <a:r>
              <a:t>6. IA Groq/Mistral → Analyse contextuelle + conseils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POINTS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A8A8A"/>
                </a:solidFill>
                <a:latin typeface="Calibri"/>
              </a:defRPr>
            </a:pPr>
            <a:r>
              <a:t>3 niveaux de fallback IA : Groq → Mistral → FAQ BDD → Local</a:t>
            </a:r>
          </a:p>
          <a:p>
            <a:pPr>
              <a:spcAft>
                <a:spcPts val="800"/>
              </a:spcAft>
              <a:defRPr sz="1400">
                <a:solidFill>
                  <a:srgbClr val="8A8A8A"/>
                </a:solidFill>
                <a:latin typeface="Calibri"/>
              </a:defRPr>
            </a:pPr>
            <a:r>
              <a:t>Proxy Vite PHP/Node pour le développement local</a:t>
            </a:r>
          </a:p>
          <a:p>
            <a:pPr>
              <a:spcAft>
                <a:spcPts val="800"/>
              </a:spcAft>
              <a:defRPr sz="1400">
                <a:solidFill>
                  <a:srgbClr val="8A8A8A"/>
                </a:solidFill>
                <a:latin typeface="Calibri"/>
              </a:defRPr>
            </a:pPr>
            <a:r>
              <a:t>Déploiement Vercel pour la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DASHBOARD COCKPIT INGÉNIEUR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TÉLÉMÉTRIE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KPI : Downforce, Drag, Rake, Balance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LiDAR AV/AR en mm (vue plongeante)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Sliders de réglage setup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Modèle aérodynamique temps réel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Rafraîchissement 200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VUES DISPONIBLES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Overview — KPIs + statut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Architecture — Schéma système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Telemetry — Setup + aéro 3D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Simulators — Pit stop + stratégie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IoT Devices — Capteurs G2D, G2E, LEDs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41"/>
                </a:solidFill>
                <a:latin typeface="Calibri"/>
              </a:defRPr>
            </a:pPr>
            <a:r>
              <a:t>Statut piste : OPTIMAL · SUBOPTIMAL · 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ASSISTANT IA FERRARI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CHATBOT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Contexte live (DB temps réel)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Personnage : Ingénieur de Piste Ferrari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Réponses en français, style italien 🇮🇹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Rendu Markdown (gras, listes, code)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3 niveaux de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VOCAL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Reconnaissance vocale (Web Speech API)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Mode mains-libres : mot-clé « Ferrari »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Synthèse vocale des réponses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Google OAuth (connexion sécurisée)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Fallback FERRARI/16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121212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i="1">
                <a:solidFill>
                  <a:srgbClr val="00FF41"/>
                </a:solidFill>
                <a:latin typeface="Calibri Light"/>
              </a:defRPr>
            </a:pPr>
            <a:r>
              <a:t>« Ciao ! Forza Ferrari ! La garde au sol est de 22,5 mm à l'avant et 38,2 mm à l'arrière. Le rake est dans la plage optimale. Le LiDAR confirme une bonne stabilité du plancher.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MODE VOCAL MAINS-LIBRES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1. Activation : bouton 🙌 dans le chatbot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2. Écoute continue : reconnaissance vocale en boucle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3. Mot-clé : « Ferrari » (ou « Hey Ferrari », « OK Ferrari »)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4. Bip sonore (Web Audio API) : confirmation de détection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5. Question : dictée après le bip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6. Réponse : l'IA répond + synthèse vocale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SCÉNARIOS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A8A8A"/>
                </a:solidFill>
                <a:latin typeface="Calibri"/>
              </a:defRPr>
            </a:pPr>
            <a:r>
              <a:t>« Ferrari quelle est la garde au sol ? » → réponse directe immédiate</a:t>
            </a:r>
          </a:p>
          <a:p>
            <a:pPr>
              <a:spcAft>
                <a:spcPts val="800"/>
              </a:spcAft>
              <a:defRPr sz="1400">
                <a:solidFill>
                  <a:srgbClr val="8A8A8A"/>
                </a:solidFill>
                <a:latin typeface="Calibri"/>
              </a:defRPr>
            </a:pPr>
            <a:r>
              <a:t>« Ferrari » [pause] « analyse le setup » → deux temps, attente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API IA — 3 NIVEAUX DE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144000" cy="822960"/>
          </a:xfrm>
          <a:prstGeom prst="roundRect">
            <a:avLst/>
          </a:prstGeom>
          <a:solidFill>
            <a:srgbClr val="121212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0000"/>
                </a:solidFill>
                <a:latin typeface="Calibri"/>
              </a:defRPr>
            </a:pPr>
            <a:r>
              <a:t>GROQ</a:t>
            </a:r>
          </a:p>
          <a:p>
            <a:pPr>
              <a:defRPr sz="1300">
                <a:solidFill>
                  <a:srgbClr val="8A8A8A"/>
                </a:solidFill>
                <a:latin typeface="Calibri"/>
              </a:defRPr>
            </a:pPr>
            <a:r>
              <a:t>llama-3.3-70b-versatile · Latence &lt; 500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00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51760"/>
            <a:ext cx="9144000" cy="822960"/>
          </a:xfrm>
          <a:prstGeom prst="roundRect">
            <a:avLst/>
          </a:prstGeom>
          <a:solidFill>
            <a:srgbClr val="121212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MISTRAL (fallback)</a:t>
            </a:r>
          </a:p>
          <a:p>
            <a:pPr>
              <a:defRPr sz="1300">
                <a:solidFill>
                  <a:srgbClr val="8A8A8A"/>
                </a:solidFill>
                <a:latin typeface="Calibri"/>
              </a:defRPr>
            </a:pPr>
            <a:r>
              <a:t>mistral-small-latest · Deep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00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9144000" cy="822960"/>
          </a:xfrm>
          <a:prstGeom prst="roundRect">
            <a:avLst/>
          </a:prstGeom>
          <a:solidFill>
            <a:srgbClr val="121212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B800"/>
                </a:solidFill>
                <a:latin typeface="Calibri"/>
              </a:defRPr>
            </a:pPr>
            <a:r>
              <a:t>FAQ BDD (fallback)</a:t>
            </a:r>
          </a:p>
          <a:p>
            <a:pPr>
              <a:defRPr sz="1300">
                <a:solidFill>
                  <a:srgbClr val="8A8A8A"/>
                </a:solidFill>
                <a:latin typeface="Calibri"/>
              </a:defRPr>
            </a:pPr>
            <a:r>
              <a:t>Recherche MySQL · Questions approuvées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00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29200"/>
            <a:ext cx="9144000" cy="822960"/>
          </a:xfrm>
          <a:prstGeom prst="roundRect">
            <a:avLst/>
          </a:prstGeom>
          <a:solidFill>
            <a:srgbClr val="121212"/>
          </a:solidFill>
          <a:ln w="254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F41"/>
                </a:solidFill>
                <a:latin typeface="Calibri"/>
              </a:defRPr>
            </a:pPr>
            <a:r>
              <a:t>MODE HORS-LIGNE</a:t>
            </a:r>
          </a:p>
          <a:p>
            <a:pPr>
              <a:defRPr sz="1300">
                <a:solidFill>
                  <a:srgbClr val="8A8A8A"/>
                </a:solidFill>
                <a:latin typeface="Calibri"/>
              </a:defRPr>
            </a:pPr>
            <a:r>
              <a:t>Réponses codées · Données simulées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GOOGLE OAUTH 2.0 &amp; 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FLUX D'AUTHENTIFICATION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1. Clic sur « Google Sign-In »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2. Google vérifie l'identité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3. JWT décodé côté client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4. Session persistée (localStorage)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5. Dashboard protégé par useAuth()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Clés API jamais exposées au client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.env.local exclu du Git (.gitignore)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Rate limiting : 10 req/min par IP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Fallback local FERRARI/16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CORS headers sur l'API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🔒  Les clés Groq/Mistral sont stockées côté serveur (PHP) et JAMAIS envoyées au client. Le frontend ne voit que les réponses.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DESIGN SYSTEM — THÈME « RACE DAY 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32004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0000"/>
                </a:solidFill>
                <a:latin typeface="Calibri"/>
              </a:defRPr>
            </a:pPr>
            <a:r>
              <a:t>🌙  MODE SOMBRE (défaut)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   Fond : #0A0A0A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   Panels : #121212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   Texte : #F5F5F5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   Accent : Rosso Corsa #DC0000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   Sensor : Vert #00FF41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0000"/>
                </a:solidFill>
                <a:latin typeface="Calibri"/>
              </a:defRPr>
            </a:pPr>
            <a:r>
              <a:t>☀️  MODE CLAIR (toggle)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   Fond : #F5F5F5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   Panels : #FFFFFF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   Texte : #1A1A1A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   Accent : Rosso Corsa #DC0000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   Sensor : Vert #0A7A2E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8A"/>
                </a:solidFill>
                <a:latin typeface="Calibri"/>
              </a:defRPr>
            </a:pPr>
            <a:r>
              <a:t>Tailwind CSS 4 · JetBrains Mono · Inter · Animations CSS personnalisées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DÉMONSTRATION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5F5F5"/>
                </a:solidFill>
                <a:latin typeface="Calibri"/>
              </a:defRPr>
            </a:pPr>
            <a:r>
              <a:t>1. Vitrine publique — Storytelling Ferrari, circuit Monza interactif au scroll</a:t>
            </a:r>
          </a:p>
          <a:p>
            <a:pPr>
              <a:spcAft>
                <a:spcPts val="800"/>
              </a:spcAft>
              <a:defRPr sz="2200">
                <a:solidFill>
                  <a:srgbClr val="F5F5F5"/>
                </a:solidFill>
                <a:latin typeface="Calibri"/>
              </a:defRPr>
            </a:pPr>
            <a:r>
              <a:t>2. Connexion Google — OAuth ou identifiants FERRARI / 16</a:t>
            </a:r>
          </a:p>
          <a:p>
            <a:pPr>
              <a:spcAft>
                <a:spcPts val="800"/>
              </a:spcAft>
              <a:defRPr sz="2200">
                <a:solidFill>
                  <a:srgbClr val="F5F5F5"/>
                </a:solidFill>
                <a:latin typeface="Calibri"/>
              </a:defRPr>
            </a:pPr>
            <a:r>
              <a:t>3. Cockpit Dashboard — Télémétrie live, sliders setup, KPI</a:t>
            </a:r>
          </a:p>
          <a:p>
            <a:pPr>
              <a:spcAft>
                <a:spcPts val="800"/>
              </a:spcAft>
              <a:defRPr sz="2200">
                <a:solidFill>
                  <a:srgbClr val="F5F5F5"/>
                </a:solidFill>
                <a:latin typeface="Calibri"/>
              </a:defRPr>
            </a:pPr>
            <a:r>
              <a:t>4. Assistant IA — Posez une question technique, réponse Groq/Mistral</a:t>
            </a:r>
          </a:p>
          <a:p>
            <a:pPr>
              <a:spcAft>
                <a:spcPts val="800"/>
              </a:spcAft>
              <a:defRPr sz="2200">
                <a:solidFill>
                  <a:srgbClr val="F5F5F5"/>
                </a:solidFill>
                <a:latin typeface="Calibri"/>
              </a:defRPr>
            </a:pPr>
            <a:r>
              <a:t>5. Mode vocal — Dites « Ferrari » + votre question, mains-libres</a:t>
            </a:r>
          </a:p>
          <a:p>
            <a:pPr>
              <a:spcAft>
                <a:spcPts val="800"/>
              </a:spcAft>
              <a:defRPr sz="2200">
                <a:solidFill>
                  <a:srgbClr val="F5F5F5"/>
                </a:solidFill>
                <a:latin typeface="Calibri"/>
              </a:defRPr>
            </a:pPr>
            <a:r>
              <a:t>6. Toggle ☀️/🌙 — Mode clair/sombre en un clic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41"/>
                </a:solidFill>
                <a:latin typeface="Consolas"/>
              </a:defRPr>
            </a:pPr>
            <a:r>
              <a:t>npm run dev:php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ROADMAP &amp; 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COURT TERME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Streaming des réponses IA (token par token)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Historique des conversations (BDD)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Quick Actions / prompts prédéfinis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Notifications push (Safety Car, drapeaux)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MOYEN 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Données LiDAR réelles (API F1)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Mode multi-écrans (pit wall)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Analyse prédictive (ML)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Export PDF des rapports setup</a:t>
            </a:r>
          </a:p>
          <a:p>
            <a:pPr>
              <a:spcAft>
                <a:spcPts val="8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PWA hors-ligne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8A"/>
                </a:solidFill>
                <a:latin typeface="Calibri Light"/>
              </a:defRPr>
            </a:pPr>
            <a:r>
              <a:t>« Un véritable outil d'ingénierie piste, pas juste un dashboard.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C0000"/>
                </a:solidFill>
                <a:latin typeface="Calibri Light"/>
              </a:defRPr>
            </a:pPr>
            <a:r>
              <a:t>FORZA FERRARI!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1945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Télémétrie temps réel — LiDAR, aéro, setup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IA Groq + Mistral — Assistant contextuel 3 niveaux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Vocal mains-libres — Mot-clé « Ferrari », Web Speech API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Google OAuth — Connexion sécurisée, localStorage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Design Ferrari — Dark/Light mode, toggle navbar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  <a:latin typeface="Calibri"/>
              </a:defRPr>
            </a:pPr>
            <a:r>
              <a:t>Full-stack — React 19, PHP 8.5, MySQL, Vercel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486400"/>
            <a:ext cx="210312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onsolas"/>
              </a:defRPr>
            </a:pPr>
            <a:r>
              <a:t>github.com/evanmse/Fefe_project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A8A"/>
                </a:solidFill>
                <a:latin typeface="Calibri"/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0000"/>
                </a:solidFill>
                <a:latin typeface="Calibri Light"/>
              </a:defRPr>
            </a:pPr>
            <a:r>
              <a:t>ANNEXE — STACK DÉTAILLÉE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828800" cy="38100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React 19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TanStack Router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Tailwind CSS 4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TypeScript 5.7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Web Speech API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Web Audio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PHP 8.5 (API REST)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Node.js (Vercel)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MySQL (AlwaysData)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cURL (Groq/Mistral)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PDO (DB)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0000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Vite 7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Vercel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GitHub (2 remotes)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gh CLI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npm 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8A"/>
                </a:solidFill>
                <a:latin typeface="Calibri"/>
              </a:defRPr>
            </a:pPr>
            <a:r>
              <a:t>Scuderia Ferrari · LiDAR Ride Height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8A8A"/>
                </a:solidFill>
                <a:latin typeface="Calibri"/>
              </a:defRPr>
            </a:pPr>
            <a:r>
              <a:t>270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